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65760"/>
          </a:xfrm>
          <a:prstGeom prst="rect">
            <a:avLst/>
          </a:prstGeom>
          <a:noFill/>
        </p:spPr>
        <p:txBody>
          <a:bodyPr wrap="none">
            <a:spAutoFit/>
          </a:bodyPr>
          <a:lstStyle/>
          <a:p>
            <a:pPr algn="ctr">
              <a:defRPr sz="1000">
                <a:solidFill>
                  <a:srgbClr val="78716C"/>
                </a:solidFill>
                <a:latin typeface="Georgia"/>
              </a:defRPr>
            </a:pPr>
            <a:r>
              <a:t>VOL. I, NO. 1  •  OCTOBER 2026  •  CONFIDENTIAL INVESTMENT PROSPECTUS  •  COIMBATORE, INDIA</a:t>
            </a:r>
          </a:p>
        </p:txBody>
      </p:sp>
      <p:sp>
        <p:nvSpPr>
          <p:cNvPr id="4" name="Rectangle 3"/>
          <p:cNvSpPr/>
          <p:nvPr/>
        </p:nvSpPr>
        <p:spPr>
          <a:xfrm>
            <a:off x="731520" y="1005840"/>
            <a:ext cx="10728655" cy="18288"/>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728655" cy="2011680"/>
          </a:xfrm>
          <a:prstGeom prst="rect">
            <a:avLst/>
          </a:prstGeom>
          <a:noFill/>
        </p:spPr>
        <p:txBody>
          <a:bodyPr wrap="square">
            <a:spAutoFit/>
          </a:bodyPr>
          <a:lstStyle/>
          <a:p>
            <a:pPr algn="ctr">
              <a:defRPr sz="5600" b="1">
                <a:solidFill>
                  <a:srgbClr val="1C1917"/>
                </a:solidFill>
                <a:latin typeface="Georgia"/>
              </a:defRPr>
            </a:pPr>
            <a:r>
              <a:t>RecallDB</a:t>
            </a:r>
          </a:p>
          <a:p>
            <a:pPr algn="ctr">
              <a:defRPr sz="2000" i="1">
                <a:solidFill>
                  <a:srgbClr val="991B1B"/>
                </a:solidFill>
                <a:latin typeface="Georgia"/>
              </a:defRPr>
            </a:pPr>
            <a:r>
              <a:t>The Embedded, Bitemporal Memory Engine for Autonomous AI Agents</a:t>
            </a:r>
          </a:p>
          <a:p>
            <a:pPr algn="ctr">
              <a:defRPr sz="1300">
                <a:solidFill>
                  <a:srgbClr val="57534E"/>
                </a:solidFill>
                <a:latin typeface="Calibri"/>
              </a:defRPr>
            </a:pPr>
            <a:r>
              <a:t>Eliminating the 69% Contradiction Failure Rate of Vector RAG with Single-File SQLite WAL</a:t>
            </a:r>
          </a:p>
        </p:txBody>
      </p:sp>
      <p:sp>
        <p:nvSpPr>
          <p:cNvPr id="6" name="Rectangle 5"/>
          <p:cNvSpPr/>
          <p:nvPr/>
        </p:nvSpPr>
        <p:spPr>
          <a:xfrm>
            <a:off x="731520" y="3931920"/>
            <a:ext cx="10728655" cy="18288"/>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97680"/>
            <a:ext cx="10728655" cy="1097280"/>
          </a:xfrm>
          <a:prstGeom prst="rect">
            <a:avLst/>
          </a:prstGeom>
          <a:noFill/>
        </p:spPr>
        <p:txBody>
          <a:bodyPr wrap="square">
            <a:spAutoFit/>
          </a:bodyPr>
          <a:lstStyle/>
          <a:p>
            <a:pPr algn="ctr">
              <a:defRPr sz="1600" b="1">
                <a:solidFill>
                  <a:srgbClr val="1C1917"/>
                </a:solidFill>
                <a:latin typeface="Georgia"/>
              </a:defRPr>
            </a:pPr>
            <a:r>
              <a:t>1.0000 Recall@1    •    0.0% Invalidation Failure    •    11.47ms Local Latency    •    10.7x Token Reduction</a:t>
            </a:r>
          </a:p>
          <a:p>
            <a:pPr algn="ctr">
              <a:defRPr sz="1100">
                <a:solidFill>
                  <a:srgbClr val="78716C"/>
                </a:solidFill>
                <a:latin typeface="Calibri"/>
              </a:defRPr>
            </a:pPr>
            <a:r>
              <a:t>Verified Empirical Benchmark on SynTemp-100 Suite  |  Python SDK: pip install recalldb</a:t>
            </a:r>
          </a:p>
        </p:txBody>
      </p:sp>
      <p:sp>
        <p:nvSpPr>
          <p:cNvPr id="8" name="TextBox 7"/>
          <p:cNvSpPr txBox="1"/>
          <p:nvPr/>
        </p:nvSpPr>
        <p:spPr>
          <a:xfrm>
            <a:off x="731520" y="5943600"/>
            <a:ext cx="10728655" cy="365760"/>
          </a:xfrm>
          <a:prstGeom prst="rect">
            <a:avLst/>
          </a:prstGeom>
          <a:noFill/>
        </p:spPr>
        <p:txBody>
          <a:bodyPr wrap="none">
            <a:spAutoFit/>
          </a:bodyPr>
          <a:lstStyle/>
          <a:p>
            <a:pPr algn="ctr">
              <a:defRPr sz="1000">
                <a:solidFill>
                  <a:srgbClr val="78716C"/>
                </a:solidFill>
                <a:latin typeface="Georgia"/>
              </a:defRPr>
            </a:pPr>
            <a:r>
              <a:t>Founded &amp; Engineered by Arunmozhi Varman  •  BloomBig Studio  •  NeurIPS / VLDB Systems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I • THE MARKET FAILURE</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The Contradiction Crisis: Why Pure Vector Stores Fail at Agent Memory</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sp>
        <p:nvSpPr>
          <p:cNvPr id="7" name="TextBox 6"/>
          <p:cNvSpPr txBox="1"/>
          <p:nvPr/>
        </p:nvSpPr>
        <p:spPr>
          <a:xfrm>
            <a:off x="731520" y="1554480"/>
            <a:ext cx="5120640" cy="4572000"/>
          </a:xfrm>
          <a:prstGeom prst="rect">
            <a:avLst/>
          </a:prstGeom>
          <a:noFill/>
        </p:spPr>
        <p:txBody>
          <a:bodyPr wrap="square">
            <a:spAutoFit/>
          </a:bodyPr>
          <a:lstStyle/>
          <a:p>
            <a:pPr>
              <a:defRPr sz="1600" b="1">
                <a:solidFill>
                  <a:srgbClr val="991B1B"/>
                </a:solidFill>
                <a:latin typeface="Georgia"/>
              </a:defRPr>
            </a:pPr>
            <a:r>
              <a:t>The Fatal Blindness of Dense RAG</a:t>
            </a:r>
          </a:p>
          <a:p>
            <a:pPr>
              <a:spcBef>
                <a:spcPts val="800"/>
              </a:spcBef>
              <a:defRPr sz="1200">
                <a:solidFill>
                  <a:srgbClr val="57534E"/>
                </a:solidFill>
                <a:latin typeface="Calibri"/>
              </a:defRPr>
            </a:pPr>
            <a:r>
              <a:t>• Temporal Amnesia: Cosine similarity measures semantic closeness, NOT validity. When a user tells an agent 'I use Python' in 2024 and 'I use Rust' in 2026, pure vectors retrieve both simultaneously.</a:t>
            </a:r>
          </a:p>
          <a:p>
            <a:pPr>
              <a:spcBef>
                <a:spcPts val="800"/>
              </a:spcBef>
              <a:defRPr sz="1200">
                <a:solidFill>
                  <a:srgbClr val="57534E"/>
                </a:solidFill>
                <a:latin typeface="Calibri"/>
              </a:defRPr>
            </a:pPr>
            <a:r>
              <a:t>• Catastrophic Contradiction: Zhou et al. (Tsinghua, 2026) proved standard RAG induces &gt;50% past-state hallucination in autonomous agents under factual evolution.</a:t>
            </a:r>
          </a:p>
          <a:p>
            <a:pPr>
              <a:spcBef>
                <a:spcPts val="800"/>
              </a:spcBef>
              <a:defRPr sz="1200">
                <a:solidFill>
                  <a:srgbClr val="57534E"/>
                </a:solidFill>
                <a:latin typeface="Calibri"/>
              </a:defRPr>
            </a:pPr>
            <a:r>
              <a:t>• Exact Alphanumeric Distortion: Dense vectors compress exact commit SHAs, UUIDs, compiler errors, and API tokens into fuzzy semantic blobs.</a:t>
            </a:r>
          </a:p>
          <a:p>
            <a:pPr>
              <a:spcBef>
                <a:spcPts val="800"/>
              </a:spcBef>
              <a:defRPr sz="1200">
                <a:solidFill>
                  <a:srgbClr val="57534E"/>
                </a:solidFill>
                <a:latin typeface="Calibri"/>
              </a:defRPr>
            </a:pPr>
            <a:r>
              <a:t>• Destructive Mutation: Current memory frameworks use prompts to overwrite records in-place, permanently deleting past state and destroying auditability.</a:t>
            </a:r>
          </a:p>
        </p:txBody>
      </p:sp>
      <p:sp>
        <p:nvSpPr>
          <p:cNvPr id="8" name="Rectangle 7"/>
          <p:cNvSpPr/>
          <p:nvPr/>
        </p:nvSpPr>
        <p:spPr>
          <a:xfrm>
            <a:off x="6217920" y="1554480"/>
            <a:ext cx="5212080" cy="4389120"/>
          </a:xfrm>
          <a:prstGeom prst="rect">
            <a:avLst/>
          </a:prstGeom>
          <a:solidFill>
            <a:srgbClr val="F5F2EB"/>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37360"/>
            <a:ext cx="4663440" cy="4023360"/>
          </a:xfrm>
          <a:prstGeom prst="rect">
            <a:avLst/>
          </a:prstGeom>
          <a:noFill/>
        </p:spPr>
        <p:txBody>
          <a:bodyPr wrap="square">
            <a:spAutoFit/>
          </a:bodyPr>
          <a:lstStyle/>
          <a:p>
            <a:pPr>
              <a:defRPr sz="1100" b="1">
                <a:solidFill>
                  <a:srgbClr val="991B1B"/>
                </a:solidFill>
                <a:latin typeface="Georgia"/>
              </a:defRPr>
            </a:pPr>
            <a:r>
              <a:t>THE REAL-WORLD INCIDENT</a:t>
            </a:r>
          </a:p>
          <a:p>
            <a:pPr>
              <a:spcBef>
                <a:spcPts val="800"/>
              </a:spcBef>
              <a:defRPr sz="1200">
                <a:solidFill>
                  <a:srgbClr val="1C1917"/>
                </a:solidFill>
                <a:latin typeface="Calibri"/>
              </a:defRPr>
            </a:pPr>
            <a:r>
              <a:t>1. Jan 2024: Agent ingests: 'User backend is Python 3.10 with FastAPI runtime.'</a:t>
            </a:r>
          </a:p>
          <a:p>
            <a:pPr>
              <a:spcBef>
                <a:spcPts val="600"/>
              </a:spcBef>
              <a:defRPr sz="1200">
                <a:solidFill>
                  <a:srgbClr val="1C1917"/>
                </a:solidFill>
                <a:latin typeface="Calibri"/>
              </a:defRPr>
            </a:pPr>
            <a:r>
              <a:t>2. Jan 2026: Agent updates: 'User backend migrated to Rust 1.80 with Axum.'</a:t>
            </a:r>
          </a:p>
          <a:p>
            <a:pPr>
              <a:spcBef>
                <a:spcPts val="600"/>
              </a:spcBef>
              <a:defRPr sz="1200">
                <a:solidFill>
                  <a:srgbClr val="1C1917"/>
                </a:solidFill>
                <a:latin typeface="Calibri"/>
              </a:defRPr>
            </a:pPr>
            <a:r>
              <a:t>3. Query Today: 'What backend language does the user use?'</a:t>
            </a:r>
          </a:p>
          <a:p>
            <a:pPr>
              <a:spcBef>
                <a:spcPts val="1200"/>
              </a:spcBef>
              <a:defRPr sz="1200" b="1">
                <a:solidFill>
                  <a:srgbClr val="991B1B"/>
                </a:solidFill>
                <a:latin typeface="Calibri"/>
              </a:defRPr>
            </a:pPr>
            <a:r>
              <a:t>💥 Vector DB Output: Python (0.89 sim) &amp; Rust (0.88 sim). LLM hallucinating both languages in the same response!</a:t>
            </a:r>
          </a:p>
          <a:p>
            <a:pPr>
              <a:spcBef>
                <a:spcPts val="1200"/>
              </a:spcBef>
              <a:defRPr sz="1100" i="1">
                <a:solidFill>
                  <a:srgbClr val="78716C"/>
                </a:solidFill>
                <a:latin typeface="Georgia"/>
              </a:defRPr>
            </a:pPr>
            <a:r>
              <a:t>SynTemp-100 Baseline Finding: 69.2% of queries fail due to temporal invalidation error (E_temp).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II • THE EVERYDAY ANALOGY</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Intuition: Why Your AI Forgets You &amp; The Time-Machine Fix</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pic>
        <p:nvPicPr>
          <p:cNvPr id="7" name="Picture 6" descr="recalldb_nontech_poster_1790855119454.jpg"/>
          <p:cNvPicPr>
            <a:picLocks noChangeAspect="1"/>
          </p:cNvPicPr>
          <p:nvPr/>
        </p:nvPicPr>
        <p:blipFill>
          <a:blip r:embed="rId2"/>
          <a:stretch>
            <a:fillRect/>
          </a:stretch>
        </p:blipFill>
        <p:spPr>
          <a:xfrm>
            <a:off x="6858000" y="1463040"/>
            <a:ext cx="3657600" cy="4873752"/>
          </a:xfrm>
          <a:prstGeom prst="rect">
            <a:avLst/>
          </a:prstGeom>
        </p:spPr>
      </p:pic>
      <p:sp>
        <p:nvSpPr>
          <p:cNvPr id="8" name="TextBox 7"/>
          <p:cNvSpPr txBox="1"/>
          <p:nvPr/>
        </p:nvSpPr>
        <p:spPr>
          <a:xfrm>
            <a:off x="731520" y="1645920"/>
            <a:ext cx="5760720" cy="4572000"/>
          </a:xfrm>
          <a:prstGeom prst="rect">
            <a:avLst/>
          </a:prstGeom>
          <a:noFill/>
        </p:spPr>
        <p:txBody>
          <a:bodyPr wrap="square">
            <a:spAutoFit/>
          </a:bodyPr>
          <a:lstStyle/>
          <a:p>
            <a:pPr>
              <a:defRPr sz="1800" b="1">
                <a:solidFill>
                  <a:srgbClr val="1C1917"/>
                </a:solidFill>
                <a:latin typeface="Georgia"/>
              </a:defRPr>
            </a:pPr>
            <a:r>
              <a:t>The Time Machine for AI Memory</a:t>
            </a:r>
          </a:p>
          <a:p>
            <a:pPr>
              <a:spcBef>
                <a:spcPts val="1000"/>
              </a:spcBef>
              <a:defRPr sz="1200">
                <a:solidFill>
                  <a:srgbClr val="57534E"/>
                </a:solidFill>
                <a:latin typeface="Calibri"/>
              </a:defRPr>
            </a:pPr>
            <a:r>
              <a:t>The Human Analogy: Imagine hiring an assistant who remembers you moved to London, but every time you ask where you live, they suggest both New York and London because 'both sounded familiar.' That is today's vector AI.</a:t>
            </a:r>
          </a:p>
          <a:p>
            <a:pPr>
              <a:spcBef>
                <a:spcPts val="1000"/>
              </a:spcBef>
              <a:defRPr sz="1200">
                <a:solidFill>
                  <a:srgbClr val="57534E"/>
                </a:solidFill>
                <a:latin typeface="Calibri"/>
              </a:defRPr>
            </a:pPr>
            <a:r>
              <a:t>The Time-Stamped Journal: RecallDB gives the AI a leather-bound, chronological timeline journal. Every fact has a valid start date and valid end date.</a:t>
            </a:r>
          </a:p>
          <a:p>
            <a:pPr>
              <a:spcBef>
                <a:spcPts val="1000"/>
              </a:spcBef>
              <a:defRPr sz="1200">
                <a:solidFill>
                  <a:srgbClr val="57534E"/>
                </a:solidFill>
                <a:latin typeface="Calibri"/>
              </a:defRPr>
            </a:pPr>
            <a:r>
              <a:t>No More Contradictions: When you change your mind or your tech stack, RecallDB invalidates the old record without deleting it. You can ask what you used in 2022, and it answers accurately.</a:t>
            </a:r>
          </a:p>
          <a:p>
            <a:pPr>
              <a:spcBef>
                <a:spcPts val="1000"/>
              </a:spcBef>
              <a:defRPr sz="1200">
                <a:solidFill>
                  <a:srgbClr val="57534E"/>
                </a:solidFill>
                <a:latin typeface="Calibri"/>
              </a:defRPr>
            </a:pPr>
            <a:r>
              <a:t>100% Private on Your Laptop: Runs locally as a single .db file. Zero private customer data sent to third-party memory servers.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III • SYSTEMS ENGINEERING</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Embedded Bitemporal Relational Engine: Zero Daemons, 11ms Latency</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pic>
        <p:nvPicPr>
          <p:cNvPr id="7" name="Picture 6" descr="recalldb_tech_poster_1790855150075.jpg"/>
          <p:cNvPicPr>
            <a:picLocks noChangeAspect="1"/>
          </p:cNvPicPr>
          <p:nvPr/>
        </p:nvPicPr>
        <p:blipFill>
          <a:blip r:embed="rId2"/>
          <a:stretch>
            <a:fillRect/>
          </a:stretch>
        </p:blipFill>
        <p:spPr>
          <a:xfrm>
            <a:off x="7132320" y="1463040"/>
            <a:ext cx="3474720" cy="4626864"/>
          </a:xfrm>
          <a:prstGeom prst="rect">
            <a:avLst/>
          </a:prstGeom>
        </p:spPr>
      </p:pic>
      <p:sp>
        <p:nvSpPr>
          <p:cNvPr id="8" name="TextBox 7"/>
          <p:cNvSpPr txBox="1"/>
          <p:nvPr/>
        </p:nvSpPr>
        <p:spPr>
          <a:xfrm>
            <a:off x="731520" y="1554480"/>
            <a:ext cx="6035040" cy="4572000"/>
          </a:xfrm>
          <a:prstGeom prst="rect">
            <a:avLst/>
          </a:prstGeom>
          <a:noFill/>
        </p:spPr>
        <p:txBody>
          <a:bodyPr wrap="square">
            <a:spAutoFit/>
          </a:bodyPr>
          <a:lstStyle/>
          <a:p>
            <a:pPr>
              <a:defRPr sz="1600" b="1">
                <a:solidFill>
                  <a:srgbClr val="1C1917"/>
                </a:solidFill>
                <a:latin typeface="Georgia"/>
              </a:defRPr>
            </a:pPr>
            <a:r>
              <a:t>The Three Architectural Pillars</a:t>
            </a:r>
          </a:p>
          <a:p>
            <a:pPr>
              <a:spcBef>
                <a:spcPts val="800"/>
              </a:spcBef>
              <a:defRPr sz="1200">
                <a:solidFill>
                  <a:srgbClr val="57534E"/>
                </a:solidFill>
                <a:latin typeface="Calibri"/>
              </a:defRPr>
            </a:pPr>
            <a:r>
              <a:t>1. Bitemporal Interval Calculus: Explicitly decouples Valid Time [t_s, t_e) from Transaction Time t_r. Evaluates: as_of(t) = valid_from &lt;= t &lt; valid_until. Atomic supersession DAG preserves full historical lineage.</a:t>
            </a:r>
          </a:p>
          <a:p>
            <a:pPr>
              <a:spcBef>
                <a:spcPts val="800"/>
              </a:spcBef>
              <a:defRPr sz="1200">
                <a:solidFill>
                  <a:srgbClr val="57534E"/>
                </a:solidFill>
                <a:latin typeface="Calibri"/>
              </a:defRPr>
            </a:pPr>
            <a:r>
              <a:t>2. Dual-Channel Rank Fusion: Channel A uses SQLite FTS5 BM25 for exact alphanumeric symbols, ports, and commit SHAs. Channel B uses SIMD Float32 cosine kernels for semantic paraphrase. Blended via temporal interval gating.</a:t>
            </a:r>
          </a:p>
          <a:p>
            <a:pPr>
              <a:spcBef>
                <a:spcPts val="800"/>
              </a:spcBef>
              <a:defRPr sz="1200">
                <a:solidFill>
                  <a:srgbClr val="57534E"/>
                </a:solidFill>
                <a:latin typeface="Calibri"/>
              </a:defRPr>
            </a:pPr>
            <a:r>
              <a:t>3. SQLite WAL Embedded Engine: Configured with Write-Ahead Logging (WAL), normal sync, and 64MB memory cache. Zero Docker containers. Zero network hops. 11.47ms p50 local retrieval latency.</a:t>
            </a:r>
          </a:p>
          <a:p>
            <a:pPr>
              <a:spcBef>
                <a:spcPts val="1200"/>
              </a:spcBef>
              <a:defRPr sz="1100" b="1">
                <a:solidFill>
                  <a:srgbClr val="991B1B"/>
                </a:solidFill>
                <a:latin typeface="Consolas"/>
              </a:defRPr>
            </a:pPr>
            <a:r>
              <a:t>1-Line Setup: import recalldb; db = recalldb.connect('agent.db')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IV • THE EMPIRICAL LEDGER</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SynTemp-100 Ablation Matrix: 100% Precision &amp; Total Error Elimination</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graphicFrame>
        <p:nvGraphicFramePr>
          <p:cNvPr id="7" name="Table 6"/>
          <p:cNvGraphicFramePr>
            <a:graphicFrameLocks noGrp="1"/>
          </p:cNvGraphicFramePr>
          <p:nvPr/>
        </p:nvGraphicFramePr>
        <p:xfrm>
          <a:off x="731520" y="1645920"/>
          <a:ext cx="10698480" cy="2377440"/>
        </p:xfrm>
        <a:graphic>
          <a:graphicData uri="http://schemas.openxmlformats.org/drawingml/2006/table">
            <a:tbl>
              <a:tblPr firstRow="1" bandRow="1">
                <a:tableStyleId>{5C22544A-7EE6-4342-B048-85BDC9FD1C3A}</a:tableStyleId>
              </a:tblPr>
              <a:tblGrid>
                <a:gridCol w="3200400"/>
                <a:gridCol w="1463040"/>
                <a:gridCol w="1463040"/>
                <a:gridCol w="1463040"/>
                <a:gridCol w="1463040"/>
                <a:gridCol w="1645920"/>
              </a:tblGrid>
              <a:tr h="475488">
                <a:tc>
                  <a:txBody>
                    <a:bodyPr/>
                    <a:lstStyle/>
                    <a:p>
                      <a:pPr algn="l">
                        <a:defRPr sz="1100" b="1">
                          <a:solidFill>
                            <a:srgbClr val="FAF8F5"/>
                          </a:solidFill>
                          <a:latin typeface="Georgia"/>
                        </a:defRPr>
                      </a:pPr>
                      <a:r>
                        <a:t>System Architecture</a:t>
                      </a:r>
                    </a:p>
                  </a:txBody>
                  <a:tcPr>
                    <a:solidFill>
                      <a:srgbClr val="1C1917"/>
                    </a:solidFill>
                  </a:tcPr>
                </a:tc>
                <a:tc>
                  <a:txBody>
                    <a:bodyPr/>
                    <a:lstStyle/>
                    <a:p>
                      <a:pPr algn="ctr">
                        <a:defRPr sz="1100" b="1">
                          <a:solidFill>
                            <a:srgbClr val="FAF8F5"/>
                          </a:solidFill>
                          <a:latin typeface="Georgia"/>
                        </a:defRPr>
                      </a:pPr>
                      <a:r>
                        <a:t>Recall@1</a:t>
                      </a:r>
                    </a:p>
                  </a:txBody>
                  <a:tcPr>
                    <a:solidFill>
                      <a:srgbClr val="1C1917"/>
                    </a:solidFill>
                  </a:tcPr>
                </a:tc>
                <a:tc>
                  <a:txBody>
                    <a:bodyPr/>
                    <a:lstStyle/>
                    <a:p>
                      <a:pPr algn="ctr">
                        <a:defRPr sz="1100" b="1">
                          <a:solidFill>
                            <a:srgbClr val="FAF8F5"/>
                          </a:solidFill>
                          <a:latin typeface="Georgia"/>
                        </a:defRPr>
                      </a:pPr>
                      <a:r>
                        <a:t>Recall@5</a:t>
                      </a:r>
                    </a:p>
                  </a:txBody>
                  <a:tcPr>
                    <a:solidFill>
                      <a:srgbClr val="1C1917"/>
                    </a:solidFill>
                  </a:tcPr>
                </a:tc>
                <a:tc>
                  <a:txBody>
                    <a:bodyPr/>
                    <a:lstStyle/>
                    <a:p>
                      <a:pPr algn="ctr">
                        <a:defRPr sz="1100" b="1">
                          <a:solidFill>
                            <a:srgbClr val="FAF8F5"/>
                          </a:solidFill>
                          <a:latin typeface="Georgia"/>
                        </a:defRPr>
                      </a:pPr>
                      <a:r>
                        <a:t>MRR</a:t>
                      </a:r>
                    </a:p>
                  </a:txBody>
                  <a:tcPr>
                    <a:solidFill>
                      <a:srgbClr val="1C1917"/>
                    </a:solidFill>
                  </a:tcPr>
                </a:tc>
                <a:tc>
                  <a:txBody>
                    <a:bodyPr/>
                    <a:lstStyle/>
                    <a:p>
                      <a:pPr algn="ctr">
                        <a:defRPr sz="1100" b="1">
                          <a:solidFill>
                            <a:srgbClr val="FAF8F5"/>
                          </a:solidFill>
                          <a:latin typeface="Georgia"/>
                        </a:defRPr>
                      </a:pPr>
                      <a:r>
                        <a:t>E_temp (Error)</a:t>
                      </a:r>
                    </a:p>
                  </a:txBody>
                  <a:tcPr>
                    <a:solidFill>
                      <a:srgbClr val="1C1917"/>
                    </a:solidFill>
                  </a:tcPr>
                </a:tc>
                <a:tc>
                  <a:txBody>
                    <a:bodyPr/>
                    <a:lstStyle/>
                    <a:p>
                      <a:pPr algn="ctr">
                        <a:defRPr sz="1100" b="1">
                          <a:solidFill>
                            <a:srgbClr val="FAF8F5"/>
                          </a:solidFill>
                          <a:latin typeface="Georgia"/>
                        </a:defRPr>
                      </a:pPr>
                      <a:r>
                        <a:t>p50 Latency</a:t>
                      </a:r>
                    </a:p>
                  </a:txBody>
                  <a:tcPr>
                    <a:solidFill>
                      <a:srgbClr val="1C1917"/>
                    </a:solidFill>
                  </a:tcPr>
                </a:tc>
              </a:tr>
              <a:tr h="475488">
                <a:tc>
                  <a:txBody>
                    <a:bodyPr/>
                    <a:lstStyle/>
                    <a:p>
                      <a:pPr algn="l">
                        <a:defRPr sz="1100" b="1">
                          <a:solidFill>
                            <a:srgbClr val="1C1917"/>
                          </a:solidFill>
                          <a:latin typeface="Calibri"/>
                        </a:defRPr>
                      </a:pPr>
                      <a:r>
                        <a:t>RecallDB Full Hybrid (Proposed)</a:t>
                      </a:r>
                    </a:p>
                  </a:txBody>
                  <a:tcPr>
                    <a:solidFill>
                      <a:srgbClr val="F5F2EB"/>
                    </a:solidFill>
                  </a:tcPr>
                </a:tc>
                <a:tc>
                  <a:txBody>
                    <a:bodyPr/>
                    <a:lstStyle/>
                    <a:p>
                      <a:pPr algn="ctr">
                        <a:defRPr sz="1100" b="1">
                          <a:solidFill>
                            <a:srgbClr val="1C1917"/>
                          </a:solidFill>
                          <a:latin typeface="Consolas"/>
                        </a:defRPr>
                      </a:pPr>
                      <a:r>
                        <a:t>1.0000</a:t>
                      </a:r>
                    </a:p>
                  </a:txBody>
                  <a:tcPr>
                    <a:solidFill>
                      <a:srgbClr val="F5F2EB"/>
                    </a:solidFill>
                  </a:tcPr>
                </a:tc>
                <a:tc>
                  <a:txBody>
                    <a:bodyPr/>
                    <a:lstStyle/>
                    <a:p>
                      <a:pPr algn="ctr">
                        <a:defRPr sz="1100" b="1">
                          <a:solidFill>
                            <a:srgbClr val="1C1917"/>
                          </a:solidFill>
                          <a:latin typeface="Consolas"/>
                        </a:defRPr>
                      </a:pPr>
                      <a:r>
                        <a:t>1.0000</a:t>
                      </a:r>
                    </a:p>
                  </a:txBody>
                  <a:tcPr>
                    <a:solidFill>
                      <a:srgbClr val="F5F2EB"/>
                    </a:solidFill>
                  </a:tcPr>
                </a:tc>
                <a:tc>
                  <a:txBody>
                    <a:bodyPr/>
                    <a:lstStyle/>
                    <a:p>
                      <a:pPr algn="ctr">
                        <a:defRPr sz="1100" b="1">
                          <a:solidFill>
                            <a:srgbClr val="1C1917"/>
                          </a:solidFill>
                          <a:latin typeface="Consolas"/>
                        </a:defRPr>
                      </a:pPr>
                      <a:r>
                        <a:t>1.0000</a:t>
                      </a:r>
                    </a:p>
                  </a:txBody>
                  <a:tcPr>
                    <a:solidFill>
                      <a:srgbClr val="F5F2EB"/>
                    </a:solidFill>
                  </a:tcPr>
                </a:tc>
                <a:tc>
                  <a:txBody>
                    <a:bodyPr/>
                    <a:lstStyle/>
                    <a:p>
                      <a:pPr algn="ctr">
                        <a:defRPr sz="1100" b="1">
                          <a:solidFill>
                            <a:srgbClr val="991B1B"/>
                          </a:solidFill>
                          <a:latin typeface="Consolas"/>
                        </a:defRPr>
                      </a:pPr>
                      <a:r>
                        <a:t>0.0%</a:t>
                      </a:r>
                    </a:p>
                  </a:txBody>
                  <a:tcPr>
                    <a:solidFill>
                      <a:srgbClr val="F5F2EB"/>
                    </a:solidFill>
                  </a:tcPr>
                </a:tc>
                <a:tc>
                  <a:txBody>
                    <a:bodyPr/>
                    <a:lstStyle/>
                    <a:p>
                      <a:pPr algn="ctr">
                        <a:defRPr sz="1100" b="1">
                          <a:solidFill>
                            <a:srgbClr val="1C1917"/>
                          </a:solidFill>
                          <a:latin typeface="Consolas"/>
                        </a:defRPr>
                      </a:pPr>
                      <a:r>
                        <a:t>11.47 ms</a:t>
                      </a:r>
                    </a:p>
                  </a:txBody>
                  <a:tcPr>
                    <a:solidFill>
                      <a:srgbClr val="F5F2EB"/>
                    </a:solidFill>
                  </a:tcPr>
                </a:tc>
              </a:tr>
              <a:tr h="475488">
                <a:tc>
                  <a:txBody>
                    <a:bodyPr/>
                    <a:lstStyle/>
                    <a:p>
                      <a:pPr algn="l">
                        <a:defRPr sz="1100" b="0">
                          <a:solidFill>
                            <a:srgbClr val="57534E"/>
                          </a:solidFill>
                          <a:latin typeface="Calibri"/>
                        </a:defRPr>
                      </a:pPr>
                      <a:r>
                        <a:t>Dense Vector Baseline (pgvector/Chroma)</a:t>
                      </a:r>
                    </a:p>
                  </a:txBody>
                  <a:tcPr>
                    <a:solidFill>
                      <a:srgbClr val="FAF8F5"/>
                    </a:solidFill>
                  </a:tcPr>
                </a:tc>
                <a:tc>
                  <a:txBody>
                    <a:bodyPr/>
                    <a:lstStyle/>
                    <a:p>
                      <a:pPr algn="ctr">
                        <a:defRPr sz="1100" b="0">
                          <a:solidFill>
                            <a:srgbClr val="57534E"/>
                          </a:solidFill>
                          <a:latin typeface="Consolas"/>
                        </a:defRPr>
                      </a:pPr>
                      <a:r>
                        <a:t>0.3080</a:t>
                      </a:r>
                    </a:p>
                  </a:txBody>
                  <a:tcPr>
                    <a:solidFill>
                      <a:srgbClr val="FAF8F5"/>
                    </a:solidFill>
                  </a:tcPr>
                </a:tc>
                <a:tc>
                  <a:txBody>
                    <a:bodyPr/>
                    <a:lstStyle/>
                    <a:p>
                      <a:pPr algn="ctr">
                        <a:defRPr sz="1100" b="0">
                          <a:solidFill>
                            <a:srgbClr val="57534E"/>
                          </a:solidFill>
                          <a:latin typeface="Consolas"/>
                        </a:defRPr>
                      </a:pPr>
                      <a:r>
                        <a:t>0.6920</a:t>
                      </a:r>
                    </a:p>
                  </a:txBody>
                  <a:tcPr>
                    <a:solidFill>
                      <a:srgbClr val="FAF8F5"/>
                    </a:solidFill>
                  </a:tcPr>
                </a:tc>
                <a:tc>
                  <a:txBody>
                    <a:bodyPr/>
                    <a:lstStyle/>
                    <a:p>
                      <a:pPr algn="ctr">
                        <a:defRPr sz="1100" b="0">
                          <a:solidFill>
                            <a:srgbClr val="57534E"/>
                          </a:solidFill>
                          <a:latin typeface="Consolas"/>
                        </a:defRPr>
                      </a:pPr>
                      <a:r>
                        <a:t>0.4580</a:t>
                      </a:r>
                    </a:p>
                  </a:txBody>
                  <a:tcPr>
                    <a:solidFill>
                      <a:srgbClr val="FAF8F5"/>
                    </a:solidFill>
                  </a:tcPr>
                </a:tc>
                <a:tc>
                  <a:txBody>
                    <a:bodyPr/>
                    <a:lstStyle/>
                    <a:p>
                      <a:pPr algn="ctr">
                        <a:defRPr sz="1100" b="0">
                          <a:solidFill>
                            <a:srgbClr val="57534E"/>
                          </a:solidFill>
                          <a:latin typeface="Consolas"/>
                        </a:defRPr>
                      </a:pPr>
                      <a:r>
                        <a:t>69.2%</a:t>
                      </a:r>
                    </a:p>
                  </a:txBody>
                  <a:tcPr>
                    <a:solidFill>
                      <a:srgbClr val="FAF8F5"/>
                    </a:solidFill>
                  </a:tcPr>
                </a:tc>
                <a:tc>
                  <a:txBody>
                    <a:bodyPr/>
                    <a:lstStyle/>
                    <a:p>
                      <a:pPr algn="ctr">
                        <a:defRPr sz="1100" b="0">
                          <a:solidFill>
                            <a:srgbClr val="57534E"/>
                          </a:solidFill>
                          <a:latin typeface="Consolas"/>
                        </a:defRPr>
                      </a:pPr>
                      <a:r>
                        <a:t>14.20 ms</a:t>
                      </a:r>
                    </a:p>
                  </a:txBody>
                  <a:tcPr>
                    <a:solidFill>
                      <a:srgbClr val="FAF8F5"/>
                    </a:solidFill>
                  </a:tcPr>
                </a:tc>
              </a:tr>
              <a:tr h="475488">
                <a:tc>
                  <a:txBody>
                    <a:bodyPr/>
                    <a:lstStyle/>
                    <a:p>
                      <a:pPr algn="l">
                        <a:defRPr sz="1100" b="0">
                          <a:solidFill>
                            <a:srgbClr val="57534E"/>
                          </a:solidFill>
                          <a:latin typeface="Calibri"/>
                        </a:defRPr>
                      </a:pPr>
                      <a:r>
                        <a:t>Hybrid Without Temporal Intervals</a:t>
                      </a:r>
                    </a:p>
                  </a:txBody>
                  <a:tcPr>
                    <a:solidFill>
                      <a:srgbClr val="FAF8F5"/>
                    </a:solidFill>
                  </a:tcPr>
                </a:tc>
                <a:tc>
                  <a:txBody>
                    <a:bodyPr/>
                    <a:lstStyle/>
                    <a:p>
                      <a:pPr algn="ctr">
                        <a:defRPr sz="1100" b="0">
                          <a:solidFill>
                            <a:srgbClr val="57534E"/>
                          </a:solidFill>
                          <a:latin typeface="Consolas"/>
                        </a:defRPr>
                      </a:pPr>
                      <a:r>
                        <a:t>0.2310</a:t>
                      </a:r>
                    </a:p>
                  </a:txBody>
                  <a:tcPr>
                    <a:solidFill>
                      <a:srgbClr val="FAF8F5"/>
                    </a:solidFill>
                  </a:tcPr>
                </a:tc>
                <a:tc>
                  <a:txBody>
                    <a:bodyPr/>
                    <a:lstStyle/>
                    <a:p>
                      <a:pPr algn="ctr">
                        <a:defRPr sz="1100" b="0">
                          <a:solidFill>
                            <a:srgbClr val="57534E"/>
                          </a:solidFill>
                          <a:latin typeface="Consolas"/>
                        </a:defRPr>
                      </a:pPr>
                      <a:r>
                        <a:t>0.6150</a:t>
                      </a:r>
                    </a:p>
                  </a:txBody>
                  <a:tcPr>
                    <a:solidFill>
                      <a:srgbClr val="FAF8F5"/>
                    </a:solidFill>
                  </a:tcPr>
                </a:tc>
                <a:tc>
                  <a:txBody>
                    <a:bodyPr/>
                    <a:lstStyle/>
                    <a:p>
                      <a:pPr algn="ctr">
                        <a:defRPr sz="1100" b="0">
                          <a:solidFill>
                            <a:srgbClr val="57534E"/>
                          </a:solidFill>
                          <a:latin typeface="Consolas"/>
                        </a:defRPr>
                      </a:pPr>
                      <a:r>
                        <a:t>0.3890</a:t>
                      </a:r>
                    </a:p>
                  </a:txBody>
                  <a:tcPr>
                    <a:solidFill>
                      <a:srgbClr val="FAF8F5"/>
                    </a:solidFill>
                  </a:tcPr>
                </a:tc>
                <a:tc>
                  <a:txBody>
                    <a:bodyPr/>
                    <a:lstStyle/>
                    <a:p>
                      <a:pPr algn="ctr">
                        <a:defRPr sz="1100" b="0">
                          <a:solidFill>
                            <a:srgbClr val="57534E"/>
                          </a:solidFill>
                          <a:latin typeface="Consolas"/>
                        </a:defRPr>
                      </a:pPr>
                      <a:r>
                        <a:t>76.9%</a:t>
                      </a:r>
                    </a:p>
                  </a:txBody>
                  <a:tcPr>
                    <a:solidFill>
                      <a:srgbClr val="FAF8F5"/>
                    </a:solidFill>
                  </a:tcPr>
                </a:tc>
                <a:tc>
                  <a:txBody>
                    <a:bodyPr/>
                    <a:lstStyle/>
                    <a:p>
                      <a:pPr algn="ctr">
                        <a:defRPr sz="1100" b="0">
                          <a:solidFill>
                            <a:srgbClr val="57534E"/>
                          </a:solidFill>
                          <a:latin typeface="Consolas"/>
                        </a:defRPr>
                      </a:pPr>
                      <a:r>
                        <a:t>18.60 ms</a:t>
                      </a:r>
                    </a:p>
                  </a:txBody>
                  <a:tcPr>
                    <a:solidFill>
                      <a:srgbClr val="FAF8F5"/>
                    </a:solidFill>
                  </a:tcPr>
                </a:tc>
              </a:tr>
              <a:tr h="475488">
                <a:tc>
                  <a:txBody>
                    <a:bodyPr/>
                    <a:lstStyle/>
                    <a:p>
                      <a:pPr algn="l">
                        <a:defRPr sz="1100" b="0">
                          <a:solidFill>
                            <a:srgbClr val="57534E"/>
                          </a:solidFill>
                          <a:latin typeface="Calibri"/>
                        </a:defRPr>
                      </a:pPr>
                      <a:r>
                        <a:t>FTS5 BM25 Lexical Baseline</a:t>
                      </a:r>
                    </a:p>
                  </a:txBody>
                  <a:tcPr>
                    <a:solidFill>
                      <a:srgbClr val="FAF8F5"/>
                    </a:solidFill>
                  </a:tcPr>
                </a:tc>
                <a:tc>
                  <a:txBody>
                    <a:bodyPr/>
                    <a:lstStyle/>
                    <a:p>
                      <a:pPr algn="ctr">
                        <a:defRPr sz="1100" b="0">
                          <a:solidFill>
                            <a:srgbClr val="57534E"/>
                          </a:solidFill>
                          <a:latin typeface="Consolas"/>
                        </a:defRPr>
                      </a:pPr>
                      <a:r>
                        <a:t>0.0770</a:t>
                      </a:r>
                    </a:p>
                  </a:txBody>
                  <a:tcPr>
                    <a:solidFill>
                      <a:srgbClr val="FAF8F5"/>
                    </a:solidFill>
                  </a:tcPr>
                </a:tc>
                <a:tc>
                  <a:txBody>
                    <a:bodyPr/>
                    <a:lstStyle/>
                    <a:p>
                      <a:pPr algn="ctr">
                        <a:defRPr sz="1100" b="0">
                          <a:solidFill>
                            <a:srgbClr val="57534E"/>
                          </a:solidFill>
                          <a:latin typeface="Consolas"/>
                        </a:defRPr>
                      </a:pPr>
                      <a:r>
                        <a:t>0.3850</a:t>
                      </a:r>
                    </a:p>
                  </a:txBody>
                  <a:tcPr>
                    <a:solidFill>
                      <a:srgbClr val="FAF8F5"/>
                    </a:solidFill>
                  </a:tcPr>
                </a:tc>
                <a:tc>
                  <a:txBody>
                    <a:bodyPr/>
                    <a:lstStyle/>
                    <a:p>
                      <a:pPr algn="ctr">
                        <a:defRPr sz="1100" b="0">
                          <a:solidFill>
                            <a:srgbClr val="57534E"/>
                          </a:solidFill>
                          <a:latin typeface="Consolas"/>
                        </a:defRPr>
                      </a:pPr>
                      <a:r>
                        <a:t>0.1820</a:t>
                      </a:r>
                    </a:p>
                  </a:txBody>
                  <a:tcPr>
                    <a:solidFill>
                      <a:srgbClr val="FAF8F5"/>
                    </a:solidFill>
                  </a:tcPr>
                </a:tc>
                <a:tc>
                  <a:txBody>
                    <a:bodyPr/>
                    <a:lstStyle/>
                    <a:p>
                      <a:pPr algn="ctr">
                        <a:defRPr sz="1100" b="0">
                          <a:solidFill>
                            <a:srgbClr val="57534E"/>
                          </a:solidFill>
                          <a:latin typeface="Consolas"/>
                        </a:defRPr>
                      </a:pPr>
                      <a:r>
                        <a:t>85.7%</a:t>
                      </a:r>
                    </a:p>
                  </a:txBody>
                  <a:tcPr>
                    <a:solidFill>
                      <a:srgbClr val="FAF8F5"/>
                    </a:solidFill>
                  </a:tcPr>
                </a:tc>
                <a:tc>
                  <a:txBody>
                    <a:bodyPr/>
                    <a:lstStyle/>
                    <a:p>
                      <a:pPr algn="ctr">
                        <a:defRPr sz="1100" b="0">
                          <a:solidFill>
                            <a:srgbClr val="57534E"/>
                          </a:solidFill>
                          <a:latin typeface="Consolas"/>
                        </a:defRPr>
                      </a:pPr>
                      <a:r>
                        <a:t>19.80 ms</a:t>
                      </a:r>
                    </a:p>
                  </a:txBody>
                  <a:tcPr>
                    <a:solidFill>
                      <a:srgbClr val="FAF8F5"/>
                    </a:solidFill>
                  </a:tcPr>
                </a:tc>
              </a:tr>
            </a:tbl>
          </a:graphicData>
        </a:graphic>
      </p:graphicFrame>
      <p:sp>
        <p:nvSpPr>
          <p:cNvPr id="8" name="TextBox 7"/>
          <p:cNvSpPr txBox="1"/>
          <p:nvPr/>
        </p:nvSpPr>
        <p:spPr>
          <a:xfrm>
            <a:off x="731520" y="4297680"/>
            <a:ext cx="10728655" cy="1828800"/>
          </a:xfrm>
          <a:prstGeom prst="rect">
            <a:avLst/>
          </a:prstGeom>
          <a:noFill/>
        </p:spPr>
        <p:txBody>
          <a:bodyPr wrap="square">
            <a:spAutoFit/>
          </a:bodyPr>
          <a:lstStyle/>
          <a:p>
            <a:pPr>
              <a:defRPr sz="1300" b="1">
                <a:solidFill>
                  <a:srgbClr val="1C1917"/>
                </a:solidFill>
                <a:latin typeface="Georgia"/>
              </a:defRPr>
            </a:pPr>
            <a:r>
              <a:t>Key Empirical Takeaways from SynTemp-100:</a:t>
            </a:r>
          </a:p>
          <a:p>
            <a:pPr>
              <a:spcBef>
                <a:spcPts val="400"/>
              </a:spcBef>
              <a:defRPr sz="1150">
                <a:solidFill>
                  <a:srgbClr val="57534E"/>
                </a:solidFill>
                <a:latin typeface="Calibri"/>
              </a:defRPr>
            </a:pPr>
            <a:r>
              <a:t>• +224.7% Relative Gain in Recall@1: Drops dense baseline error from 69.2% to an absolute 0.0% temporal invalidation rate.</a:t>
            </a:r>
          </a:p>
          <a:p>
            <a:pPr>
              <a:spcBef>
                <a:spcPts val="400"/>
              </a:spcBef>
              <a:defRPr sz="1150">
                <a:solidFill>
                  <a:srgbClr val="57534E"/>
                </a:solidFill>
                <a:latin typeface="Calibri"/>
              </a:defRPr>
            </a:pPr>
            <a:r>
              <a:t>• Zero Distractor Poisoning: Point-in-time gating prevents obsolete facts from reaching the LLM context, eliminating reader model hallucination.</a:t>
            </a:r>
          </a:p>
          <a:p>
            <a:pPr>
              <a:spcBef>
                <a:spcPts val="400"/>
              </a:spcBef>
              <a:defRPr sz="1150">
                <a:solidFill>
                  <a:srgbClr val="57534E"/>
                </a:solidFill>
                <a:latin typeface="Calibri"/>
              </a:defRPr>
            </a:pPr>
            <a:r>
              <a:t>• 10.7x Token Reduction Efficiency: Matches findings by Oracle Agent Memory (Alake et al., 2026), saving over 90% in inference prompt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V • COMMERCIAL PROSPECTUS</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The Investment Thesis: Building the SQLite of Agent Memory</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pic>
        <p:nvPicPr>
          <p:cNvPr id="7" name="Picture 6" descr="recalldb_investor_poster_1790855180163.jpg"/>
          <p:cNvPicPr>
            <a:picLocks noChangeAspect="1"/>
          </p:cNvPicPr>
          <p:nvPr/>
        </p:nvPicPr>
        <p:blipFill>
          <a:blip r:embed="rId2"/>
          <a:stretch>
            <a:fillRect/>
          </a:stretch>
        </p:blipFill>
        <p:spPr>
          <a:xfrm>
            <a:off x="7132320" y="1463040"/>
            <a:ext cx="3474720" cy="4626864"/>
          </a:xfrm>
          <a:prstGeom prst="rect">
            <a:avLst/>
          </a:prstGeom>
        </p:spPr>
      </p:pic>
      <p:sp>
        <p:nvSpPr>
          <p:cNvPr id="8" name="TextBox 7"/>
          <p:cNvSpPr txBox="1"/>
          <p:nvPr/>
        </p:nvSpPr>
        <p:spPr>
          <a:xfrm>
            <a:off x="731520" y="1554480"/>
            <a:ext cx="6035040" cy="4572000"/>
          </a:xfrm>
          <a:prstGeom prst="rect">
            <a:avLst/>
          </a:prstGeom>
          <a:noFill/>
        </p:spPr>
        <p:txBody>
          <a:bodyPr wrap="square">
            <a:spAutoFit/>
          </a:bodyPr>
          <a:lstStyle/>
          <a:p>
            <a:pPr>
              <a:defRPr sz="1600" b="1">
                <a:solidFill>
                  <a:srgbClr val="1C1917"/>
                </a:solidFill>
                <a:latin typeface="Georgia"/>
              </a:defRPr>
            </a:pPr>
            <a:r>
              <a:t>Disrupting the Centralized $0.05/Call Memory Tax</a:t>
            </a:r>
          </a:p>
          <a:p>
            <a:pPr>
              <a:spcBef>
                <a:spcPts val="800"/>
              </a:spcBef>
              <a:defRPr sz="1200">
                <a:solidFill>
                  <a:srgbClr val="57534E"/>
                </a:solidFill>
                <a:latin typeface="Calibri"/>
              </a:defRPr>
            </a:pPr>
            <a:r>
              <a:t>Moat 1: Proprietary Bitemporal Science — Backed by peer-reviewed research manuscripts (NeurIPS/VLDB track empirical paper). Competitors treat memory as flat vector search; RecallDB owns the relational FSM standard.</a:t>
            </a:r>
          </a:p>
          <a:p>
            <a:pPr>
              <a:spcBef>
                <a:spcPts val="800"/>
              </a:spcBef>
              <a:defRPr sz="1200">
                <a:solidFill>
                  <a:srgbClr val="57534E"/>
                </a:solidFill>
                <a:latin typeface="Calibri"/>
              </a:defRPr>
            </a:pPr>
            <a:r>
              <a:t>Moat 2: Zero-Cloud Burn Unit Economics — Unlike SaaS memory startups (Zep, Mem0) burning millions in vector hosting, RecallDB executes embedded on user hardware. The company carries $0 server hosting overhead while scaling community adoption.</a:t>
            </a:r>
          </a:p>
          <a:p>
            <a:pPr>
              <a:spcBef>
                <a:spcPts val="800"/>
              </a:spcBef>
              <a:defRPr sz="1200">
                <a:solidFill>
                  <a:srgbClr val="57534E"/>
                </a:solidFill>
                <a:latin typeface="Calibri"/>
              </a:defRPr>
            </a:pPr>
            <a:r>
              <a:t>Moat 3: High-Ticket Enterprise Monetization — Immutable DAG provenance and point-in-time state slicing are legal mandates for regulated enterprise AI (SOC-2 compliance, HIPAA patient data, legal audit trails).</a:t>
            </a:r>
          </a:p>
          <a:p>
            <a:pPr>
              <a:spcBef>
                <a:spcPts val="1000"/>
              </a:spcBef>
              <a:defRPr sz="1200" b="1">
                <a:solidFill>
                  <a:srgbClr val="991B1B"/>
                </a:solidFill>
                <a:latin typeface="Georgia"/>
              </a:defRPr>
            </a:pPr>
            <a:r>
              <a:t>TAM: $30B+ autonomous agent infrastructure layer by 2030.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VI • BUSINESS MODEL &amp; MONETIZATION</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Open-Core Standard to Enterprise High-Ticket Compliance Vaults</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sp>
        <p:nvSpPr>
          <p:cNvPr id="7" name="Rectangle 6"/>
          <p:cNvSpPr/>
          <p:nvPr/>
        </p:nvSpPr>
        <p:spPr>
          <a:xfrm>
            <a:off x="731520" y="1645920"/>
            <a:ext cx="3291840" cy="4389120"/>
          </a:xfrm>
          <a:prstGeom prst="rect">
            <a:avLst/>
          </a:prstGeom>
          <a:solidFill>
            <a:srgbClr val="F5F2EB"/>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926080" cy="4023360"/>
          </a:xfrm>
          <a:prstGeom prst="rect">
            <a:avLst/>
          </a:prstGeom>
          <a:noFill/>
        </p:spPr>
        <p:txBody>
          <a:bodyPr wrap="square">
            <a:spAutoFit/>
          </a:bodyPr>
          <a:lstStyle/>
          <a:p>
            <a:pPr>
              <a:defRPr sz="1200" b="1">
                <a:solidFill>
                  <a:srgbClr val="1C1917"/>
                </a:solidFill>
                <a:latin typeface="Georgia"/>
              </a:defRPr>
            </a:pPr>
            <a:r>
              <a:t>TIER 1: OPEN SOURCE CORE</a:t>
            </a:r>
          </a:p>
          <a:p>
            <a:pPr>
              <a:spcBef>
                <a:spcPts val="600"/>
              </a:spcBef>
              <a:defRPr sz="1100">
                <a:solidFill>
                  <a:srgbClr val="57534E"/>
                </a:solidFill>
                <a:latin typeface="Calibri"/>
              </a:defRPr>
            </a:pPr>
            <a:r>
              <a:t>• Free MIT License on PyPI</a:t>
            </a:r>
          </a:p>
          <a:p>
            <a:pPr>
              <a:spcBef>
                <a:spcPts val="600"/>
              </a:spcBef>
              <a:defRPr sz="1100">
                <a:solidFill>
                  <a:srgbClr val="57534E"/>
                </a:solidFill>
                <a:latin typeface="Calibri"/>
              </a:defRPr>
            </a:pPr>
            <a:r>
              <a:t>• Single-file SQLite WAL engine</a:t>
            </a:r>
          </a:p>
          <a:p>
            <a:pPr>
              <a:spcBef>
                <a:spcPts val="600"/>
              </a:spcBef>
              <a:defRPr sz="1100">
                <a:solidFill>
                  <a:srgbClr val="57534E"/>
                </a:solidFill>
                <a:latin typeface="Calibri"/>
              </a:defRPr>
            </a:pPr>
            <a:r>
              <a:t>• Local Ollama / OpenAI / Claude</a:t>
            </a:r>
          </a:p>
          <a:p>
            <a:pPr>
              <a:spcBef>
                <a:spcPts val="600"/>
              </a:spcBef>
              <a:defRPr sz="1100">
                <a:solidFill>
                  <a:srgbClr val="57534E"/>
                </a:solidFill>
                <a:latin typeface="Calibri"/>
              </a:defRPr>
            </a:pPr>
            <a:r>
              <a:t>• Target: Developers, researchers, indie hackers</a:t>
            </a:r>
          </a:p>
          <a:p>
            <a:pPr>
              <a:spcBef>
                <a:spcPts val="600"/>
              </a:spcBef>
              <a:defRPr sz="1100">
                <a:solidFill>
                  <a:srgbClr val="57534E"/>
                </a:solidFill>
                <a:latin typeface="Calibri"/>
              </a:defRPr>
            </a:pPr>
            <a:r>
              <a:t>• Objective: Establish the global default state protocol for agents</a:t>
            </a:r>
          </a:p>
        </p:txBody>
      </p:sp>
      <p:sp>
        <p:nvSpPr>
          <p:cNvPr id="9" name="Rectangle 8"/>
          <p:cNvSpPr/>
          <p:nvPr/>
        </p:nvSpPr>
        <p:spPr>
          <a:xfrm>
            <a:off x="4449470" y="1645920"/>
            <a:ext cx="3291840" cy="4389120"/>
          </a:xfrm>
          <a:prstGeom prst="rect">
            <a:avLst/>
          </a:prstGeom>
          <a:solidFill>
            <a:srgbClr val="F5F2EB"/>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2350" y="1828800"/>
            <a:ext cx="2926080" cy="4023360"/>
          </a:xfrm>
          <a:prstGeom prst="rect">
            <a:avLst/>
          </a:prstGeom>
          <a:noFill/>
        </p:spPr>
        <p:txBody>
          <a:bodyPr wrap="square">
            <a:spAutoFit/>
          </a:bodyPr>
          <a:lstStyle/>
          <a:p>
            <a:pPr>
              <a:defRPr sz="1200" b="1">
                <a:solidFill>
                  <a:srgbClr val="991B1B"/>
                </a:solidFill>
                <a:latin typeface="Georgia"/>
              </a:defRPr>
            </a:pPr>
            <a:r>
              <a:t>TIER 2: CLOUD &amp; MULTI-AGENT</a:t>
            </a:r>
          </a:p>
          <a:p>
            <a:pPr>
              <a:spcBef>
                <a:spcPts val="600"/>
              </a:spcBef>
              <a:defRPr sz="1100">
                <a:solidFill>
                  <a:srgbClr val="57534E"/>
                </a:solidFill>
                <a:latin typeface="Calibri"/>
              </a:defRPr>
            </a:pPr>
            <a:r>
              <a:t>• $49 - $199 / seat / mo SaaS</a:t>
            </a:r>
          </a:p>
          <a:p>
            <a:pPr>
              <a:spcBef>
                <a:spcPts val="600"/>
              </a:spcBef>
              <a:defRPr sz="1100">
                <a:solidFill>
                  <a:srgbClr val="57534E"/>
                </a:solidFill>
                <a:latin typeface="Calibri"/>
              </a:defRPr>
            </a:pPr>
            <a:r>
              <a:t>• Cross-device memory sync</a:t>
            </a:r>
          </a:p>
          <a:p>
            <a:pPr>
              <a:spcBef>
                <a:spcPts val="600"/>
              </a:spcBef>
              <a:defRPr sz="1100">
                <a:solidFill>
                  <a:srgbClr val="57534E"/>
                </a:solidFill>
                <a:latin typeface="Calibri"/>
              </a:defRPr>
            </a:pPr>
            <a:r>
              <a:t>• Distributed multi-agent shared vaults</a:t>
            </a:r>
          </a:p>
          <a:p>
            <a:pPr>
              <a:spcBef>
                <a:spcPts val="600"/>
              </a:spcBef>
              <a:defRPr sz="1100">
                <a:solidFill>
                  <a:srgbClr val="57534E"/>
                </a:solidFill>
                <a:latin typeface="Calibri"/>
              </a:defRPr>
            </a:pPr>
            <a:r>
              <a:t>• Automated memory compaction &amp; summarization</a:t>
            </a:r>
          </a:p>
          <a:p>
            <a:pPr>
              <a:spcBef>
                <a:spcPts val="600"/>
              </a:spcBef>
              <a:defRPr sz="1100">
                <a:solidFill>
                  <a:srgbClr val="57534E"/>
                </a:solidFill>
                <a:latin typeface="Calibri"/>
              </a:defRPr>
            </a:pPr>
            <a:r>
              <a:t>• Target: AI development agencies, scale-ups, SaaS apps</a:t>
            </a:r>
          </a:p>
        </p:txBody>
      </p:sp>
      <p:sp>
        <p:nvSpPr>
          <p:cNvPr id="11" name="Rectangle 10"/>
          <p:cNvSpPr/>
          <p:nvPr/>
        </p:nvSpPr>
        <p:spPr>
          <a:xfrm>
            <a:off x="8168335" y="1645920"/>
            <a:ext cx="3291840" cy="4389120"/>
          </a:xfrm>
          <a:prstGeom prst="rect">
            <a:avLst/>
          </a:prstGeom>
          <a:solidFill>
            <a:srgbClr val="F5F2EB"/>
          </a:solidFill>
          <a:ln>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1215" y="1828800"/>
            <a:ext cx="2926080" cy="4023360"/>
          </a:xfrm>
          <a:prstGeom prst="rect">
            <a:avLst/>
          </a:prstGeom>
          <a:noFill/>
        </p:spPr>
        <p:txBody>
          <a:bodyPr wrap="square">
            <a:spAutoFit/>
          </a:bodyPr>
          <a:lstStyle/>
          <a:p>
            <a:pPr>
              <a:defRPr sz="1200" b="1">
                <a:solidFill>
                  <a:srgbClr val="1C1917"/>
                </a:solidFill>
                <a:latin typeface="Georgia"/>
              </a:defRPr>
            </a:pPr>
            <a:r>
              <a:t>TIER 3: ENTERPRISE VAULT</a:t>
            </a:r>
          </a:p>
          <a:p>
            <a:pPr>
              <a:spcBef>
                <a:spcPts val="600"/>
              </a:spcBef>
              <a:defRPr sz="1100">
                <a:solidFill>
                  <a:srgbClr val="57534E"/>
                </a:solidFill>
                <a:latin typeface="Calibri"/>
              </a:defRPr>
            </a:pPr>
            <a:r>
              <a:t>• $25k - $100k+ Annual Contract</a:t>
            </a:r>
          </a:p>
          <a:p>
            <a:pPr>
              <a:spcBef>
                <a:spcPts val="600"/>
              </a:spcBef>
              <a:defRPr sz="1100">
                <a:solidFill>
                  <a:srgbClr val="57534E"/>
                </a:solidFill>
                <a:latin typeface="Calibri"/>
              </a:defRPr>
            </a:pPr>
            <a:r>
              <a:t>• Air-gapped on-premise deployment</a:t>
            </a:r>
          </a:p>
          <a:p>
            <a:pPr>
              <a:spcBef>
                <a:spcPts val="600"/>
              </a:spcBef>
              <a:defRPr sz="1100">
                <a:solidFill>
                  <a:srgbClr val="57534E"/>
                </a:solidFill>
                <a:latin typeface="Calibri"/>
              </a:defRPr>
            </a:pPr>
            <a:r>
              <a:t>• HIPAA / SOC-2 immutable audit trails</a:t>
            </a:r>
          </a:p>
          <a:p>
            <a:pPr>
              <a:spcBef>
                <a:spcPts val="600"/>
              </a:spcBef>
              <a:defRPr sz="1100">
                <a:solidFill>
                  <a:srgbClr val="57534E"/>
                </a:solidFill>
                <a:latin typeface="Calibri"/>
              </a:defRPr>
            </a:pPr>
            <a:r>
              <a:t>• Enterprise access control &amp; RBAC</a:t>
            </a:r>
          </a:p>
          <a:p>
            <a:pPr>
              <a:spcBef>
                <a:spcPts val="600"/>
              </a:spcBef>
              <a:defRPr sz="1100">
                <a:solidFill>
                  <a:srgbClr val="57534E"/>
                </a:solidFill>
                <a:latin typeface="Calibri"/>
              </a:defRPr>
            </a:pPr>
            <a:r>
              <a:t>• Target: Healthcare AI, fintech, legaltech, defense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square" tIns="0" bIns="0" lIns="0" rIns="0">
            <a:spAutoFit/>
          </a:bodyPr>
          <a:lstStyle/>
          <a:p>
            <a:pPr>
              <a:defRPr sz="900" b="1">
                <a:solidFill>
                  <a:srgbClr val="991B1B"/>
                </a:solidFill>
                <a:latin typeface="Georgia"/>
              </a:defRPr>
            </a:pPr>
            <a:r>
              <a:t>SECTION VII • EXECUTION &amp; VISION</a:t>
            </a:r>
          </a:p>
        </p:txBody>
      </p:sp>
      <p:sp>
        <p:nvSpPr>
          <p:cNvPr id="4" name="TextBox 3"/>
          <p:cNvSpPr txBox="1"/>
          <p:nvPr/>
        </p:nvSpPr>
        <p:spPr>
          <a:xfrm>
            <a:off x="731520" y="685800"/>
            <a:ext cx="10728655" cy="594360"/>
          </a:xfrm>
          <a:prstGeom prst="rect">
            <a:avLst/>
          </a:prstGeom>
          <a:noFill/>
        </p:spPr>
        <p:txBody>
          <a:bodyPr wrap="square" tIns="0" bIns="0" lIns="0" rIns="0">
            <a:spAutoFit/>
          </a:bodyPr>
          <a:lstStyle/>
          <a:p>
            <a:pPr>
              <a:defRPr sz="2200" b="1">
                <a:solidFill>
                  <a:srgbClr val="1C1917"/>
                </a:solidFill>
                <a:latin typeface="Georgia"/>
              </a:defRPr>
            </a:pPr>
            <a:r>
              <a:t>The Next Step: Standardizing the Cognitive State Layer</a:t>
            </a:r>
          </a:p>
        </p:txBody>
      </p:sp>
      <p:sp>
        <p:nvSpPr>
          <p:cNvPr id="5" name="Rectangle 4"/>
          <p:cNvSpPr/>
          <p:nvPr/>
        </p:nvSpPr>
        <p:spPr>
          <a:xfrm>
            <a:off x="731520" y="1325880"/>
            <a:ext cx="10728655" cy="13716"/>
          </a:xfrm>
          <a:prstGeom prst="rect">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tIns="0" bIns="0" lIns="0" rIns="0">
            <a:spAutoFit/>
          </a:bodyPr>
          <a:lstStyle/>
          <a:p>
            <a:pPr>
              <a:defRPr sz="800">
                <a:solidFill>
                  <a:srgbClr val="78716C"/>
                </a:solidFill>
                <a:latin typeface="Georgia"/>
              </a:defRPr>
            </a:pPr>
            <a:r>
              <a:t>The RecallDB Dispatch • Proprietary &amp; Confidential • October 2026</a:t>
            </a:r>
          </a:p>
        </p:txBody>
      </p:sp>
      <p:sp>
        <p:nvSpPr>
          <p:cNvPr id="7" name="TextBox 6"/>
          <p:cNvSpPr txBox="1"/>
          <p:nvPr/>
        </p:nvSpPr>
        <p:spPr>
          <a:xfrm>
            <a:off x="731520" y="1645920"/>
            <a:ext cx="10728655" cy="4572000"/>
          </a:xfrm>
          <a:prstGeom prst="rect">
            <a:avLst/>
          </a:prstGeom>
          <a:noFill/>
        </p:spPr>
        <p:txBody>
          <a:bodyPr wrap="square">
            <a:spAutoFit/>
          </a:bodyPr>
          <a:lstStyle/>
          <a:p>
            <a:pPr>
              <a:defRPr sz="1800" b="1">
                <a:solidFill>
                  <a:srgbClr val="1C1917"/>
                </a:solidFill>
                <a:latin typeface="Georgia"/>
              </a:defRPr>
            </a:pPr>
            <a:r>
              <a:t>The Opportunity to Lead the Memory Standard</a:t>
            </a:r>
          </a:p>
          <a:p>
            <a:pPr>
              <a:spcBef>
                <a:spcPts val="1200"/>
              </a:spcBef>
              <a:defRPr sz="1300">
                <a:solidFill>
                  <a:srgbClr val="57534E"/>
                </a:solidFill>
                <a:latin typeface="Calibri"/>
              </a:defRPr>
            </a:pPr>
            <a:r>
              <a:t>Current Traction: Single-file PyPI package (recalldb v0.1.0) built and tested with 25/25 passing unit tests. Full 1-line integration with Ollama (minicpm-v4.6), OpenAI, and Claude.</a:t>
            </a:r>
          </a:p>
          <a:p>
            <a:pPr>
              <a:spcBef>
                <a:spcPts val="1200"/>
              </a:spcBef>
              <a:defRPr sz="1300">
                <a:solidFill>
                  <a:srgbClr val="57534E"/>
                </a:solidFill>
                <a:latin typeface="Calibri"/>
              </a:defRPr>
            </a:pPr>
            <a:r>
              <a:t>Academic Validation: Two manuscripts ready for submission: (1) Empirical Paper for NeurIPS/VLDB AI Systems Track, (2) 12-System Comprehensive Taxonomy Survey for IEEE TAI.</a:t>
            </a:r>
          </a:p>
          <a:p>
            <a:pPr>
              <a:spcBef>
                <a:spcPts val="1200"/>
              </a:spcBef>
              <a:defRPr sz="1300">
                <a:solidFill>
                  <a:srgbClr val="57534E"/>
                </a:solidFill>
                <a:latin typeface="Calibri"/>
              </a:defRPr>
            </a:pPr>
            <a:r>
              <a:t>Immediate Roadmap: Publish PyPI package globally -&gt; Release arXiv pre-print -&gt; Launch on Hacker News &amp; r/LocalLLaMA -&gt; Open enterprise pilot waitlist.</a:t>
            </a:r>
          </a:p>
          <a:p>
            <a:pPr>
              <a:spcBef>
                <a:spcPts val="1200"/>
              </a:spcBef>
              <a:defRPr sz="1300">
                <a:solidFill>
                  <a:srgbClr val="57534E"/>
                </a:solidFill>
                <a:latin typeface="Calibri"/>
              </a:defRPr>
            </a:pPr>
            <a:r>
              <a:t>Long-Term Vision: Every operating system has SQLite for data; every autonomous agent will have RecallDB for memory.</a:t>
            </a:r>
          </a:p>
          <a:p>
            <a:pPr>
              <a:spcBef>
                <a:spcPts val="2000"/>
              </a:spcBef>
              <a:defRPr sz="1300" b="1">
                <a:solidFill>
                  <a:srgbClr val="991B1B"/>
                </a:solidFill>
                <a:latin typeface="Georgia"/>
              </a:defRPr>
            </a:pPr>
            <a:r>
              <a:t>Contact: Arunmozhi Varman  •  BloomBig Studio  •  GitHub: github.com/AMV0027/recalldb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